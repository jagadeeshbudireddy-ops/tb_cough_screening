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9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Introduce the project as a machine-learning research prototype that analyzes cough audio for a screening-related classification. It is not a clinical diagnostic tool.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Medical-tech hero illustration with cough waveform, AI network and lungs.</a:t>
            </a:r>
          </a:p>
          <a:p>
            <a:endParaRPr/>
          </a:p>
          <a:p>
            <a:r>
              <a:t>Key takeaway:</a:t>
            </a:r>
          </a:p>
          <a:p>
            <a:r>
              <a:t>An end-to-end cough-audio AI screening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Explain the practical motivation: explore whether cough audio can provide a useful research signal for early screening workflows.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Three-card problem framing.</a:t>
            </a:r>
          </a:p>
          <a:p>
            <a:endParaRPr/>
          </a:p>
          <a:p>
            <a:r>
              <a:t>Key takeaway:</a:t>
            </a:r>
          </a:p>
          <a:p>
            <a:r>
              <a:t>Cough audio is an accessible signal for AI screening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Emphasize that the goal is a research prototype, not diagnosis. The project covers the complete path from audio upload to model output.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Input → AI processing → output.</a:t>
            </a:r>
          </a:p>
          <a:p>
            <a:endParaRPr/>
          </a:p>
          <a:p>
            <a:r>
              <a:t>Key takeaway:</a:t>
            </a:r>
          </a:p>
          <a:p>
            <a:r>
              <a:t>A complete and deployable academic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Position the project as an engineering and research prototype that complements, rather than replaces, clinical assessment.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Three-column comparison.</a:t>
            </a:r>
          </a:p>
          <a:p>
            <a:endParaRPr/>
          </a:p>
          <a:p>
            <a:r>
              <a:t>Key takeaway:</a:t>
            </a:r>
          </a:p>
          <a:p>
            <a:r>
              <a:t>The project integrates the full audio-AI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Walk through the pipeline from uploaded audio to Mel representation and CNN classification.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Five-stage horizontal pipeline.</a:t>
            </a:r>
          </a:p>
          <a:p>
            <a:endParaRPr/>
          </a:p>
          <a:p>
            <a:r>
              <a:t>Key takeaway:</a:t>
            </a:r>
          </a:p>
          <a:p>
            <a:r>
              <a:t>Simple audio-to-AI-to-result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Explain the four layers: browser, Flask application, AI inference, and safe result display.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Four-layer architecture diagram.</a:t>
            </a:r>
          </a:p>
          <a:p>
            <a:endParaRPr/>
          </a:p>
          <a:p>
            <a:r>
              <a:t>Key takeaway:</a:t>
            </a:r>
          </a:p>
          <a:p>
            <a:r>
              <a:t>The deployment preserves the training/inference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Explain why preprocessing is necessary: recordings differ in duration and level, so the CNN needs a consistent input representation.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Waveform → Mel spectrogram → normalized tensor.</a:t>
            </a:r>
          </a:p>
          <a:p>
            <a:endParaRPr/>
          </a:p>
          <a:p>
            <a:r>
              <a:t>Key takeaway:</a:t>
            </a:r>
          </a:p>
          <a:p>
            <a:r>
              <a:t>Consistent preprocessing is essential for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Explain that the CNN was compared with a classical Random Forest MFCC baseline. The CNN is compact enough for CPU-based academic experimentation.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CNN architecture and baseline comparison.</a:t>
            </a:r>
          </a:p>
          <a:p>
            <a:endParaRPr/>
          </a:p>
          <a:p>
            <a:r>
              <a:t>Key takeaway:</a:t>
            </a:r>
          </a:p>
          <a:p>
            <a:r>
              <a:t>Mel-spectrogram CNN versus MFCC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Show the stack and explain that Flask loads the same trained CNN used for evaluation.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Stack + modules + web workflow.</a:t>
            </a:r>
          </a:p>
          <a:p>
            <a:endParaRPr/>
          </a:p>
          <a:p>
            <a:r>
              <a:t>Key takeaway:</a:t>
            </a:r>
          </a:p>
          <a:p>
            <a:r>
              <a:t>The trained model is integrated into a working web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These are dataset-specific held-out test results. The CNN achieved 81.91% accuracy and 96% recall for the TB class, versus 68.84% and 79% for the baseline.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KPI cards plus baseline comparison.</a:t>
            </a:r>
          </a:p>
          <a:p>
            <a:endParaRPr/>
          </a:p>
          <a:p>
            <a:r>
              <a:t>Key takeaway:</a:t>
            </a:r>
          </a:p>
          <a:p>
            <a:r>
              <a:t>CNN performed better on this held-out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Explain the matrix and especially the 31 Healthy samples classified as TB. This is why model confidence should not be presented as disease probability.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Confusion matrix with interpretation.</a:t>
            </a:r>
          </a:p>
          <a:p>
            <a:endParaRPr/>
          </a:p>
          <a:p>
            <a:r>
              <a:t>Key takeaway:</a:t>
            </a:r>
          </a:p>
          <a:p>
            <a:r>
              <a:t>Good TB recall still comes with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Focus on engineering advantages rather than clinical claims.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Four advantage cards.</a:t>
            </a:r>
          </a:p>
          <a:p>
            <a:endParaRPr/>
          </a:p>
          <a:p>
            <a:r>
              <a:t>Key takeaway:</a:t>
            </a:r>
          </a:p>
          <a:p>
            <a:r>
              <a:t>Simple, low-cost and deployable AI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Clearly state that this is an academic research prototype. Dataset limitations, false positives and lack of clinical validation prevent diagnostic use.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Four limitation cards with responsible-use panel.</a:t>
            </a:r>
          </a:p>
          <a:p>
            <a:endParaRPr/>
          </a:p>
          <a:p>
            <a:r>
              <a:t>Key takeaway:</a:t>
            </a:r>
          </a:p>
          <a:p>
            <a:r>
              <a:t>Research screening only; clinical evaluation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Future work should prioritize better and more diverse data, robust preprocessing, advanced models, external validation and supervised clinical studies.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Five-stage future-scope pipeline.</a:t>
            </a:r>
          </a:p>
          <a:p>
            <a:endParaRPr/>
          </a:p>
          <a:p>
            <a:r>
              <a:t>Key takeaway:</a:t>
            </a:r>
          </a:p>
          <a:p>
            <a:r>
              <a:t>Future progress depends on data quality and validation, not only model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explanation:</a:t>
            </a:r>
          </a:p>
          <a:p>
            <a:r>
              <a:t>Summarize the story: audio input, preprocessing, CNN classification, Flask deployment and dataset-specific results. End by inviting questions.</a:t>
            </a:r>
          </a:p>
          <a:p>
            <a:endParaRPr/>
          </a:p>
          <a:p>
            <a:r>
              <a:t>Recommended diagram/illustration:</a:t>
            </a:r>
          </a:p>
          <a:p>
            <a:r>
              <a:t>Three-part conclusion with problem, solution and result.</a:t>
            </a:r>
          </a:p>
          <a:p>
            <a:endParaRPr/>
          </a:p>
          <a:p>
            <a:r>
              <a:t>Key takeaway:</a:t>
            </a:r>
          </a:p>
          <a:p>
            <a:r>
              <a:t>An end-to-end academic prototype with promising experimental results and clear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ide_clean_healthcare_technology_themed_vector_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" y="19664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70632" y="657286"/>
            <a:ext cx="64365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1325C"/>
                </a:solidFill>
              </a:defRPr>
            </a:pPr>
            <a:r>
              <a:rPr dirty="0"/>
              <a:t>AI-BASED</a:t>
            </a:r>
            <a:r>
              <a:rPr lang="en-IN" dirty="0"/>
              <a:t> </a:t>
            </a:r>
            <a:r>
              <a:rPr dirty="0"/>
              <a:t>TB COUGH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4252" y="1229383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6C80"/>
                </a:solidFill>
              </a:defRPr>
            </a:pPr>
            <a:r>
              <a:rPr dirty="0"/>
              <a:t>Cough Audio Analysis using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1544" y="6063062"/>
            <a:ext cx="2103120" cy="438912"/>
          </a:xfrm>
          <a:prstGeom prst="round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dirty="0" err="1"/>
              <a:t>B.Tech</a:t>
            </a:r>
            <a:r>
              <a:rPr dirty="0"/>
              <a:t> Academic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rPr dirty="0"/>
              <a:t>Screening can be resource-intensive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299562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Clinical assessment, laboratory testing and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imaging may be required for TB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64008" cy="3566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rPr dirty="0"/>
              <a:t>Cough contains acoustic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281070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Cough recordings can be converted into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numerical and spectrogram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64008" cy="3566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2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Need a rapid research 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57400"/>
            <a:ext cx="324851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An audio-first interface can explore AI-assisted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screening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Motivation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33041"/>
                </a:solidFill>
              </a:defRPr>
            </a:pPr>
            <a:r>
              <a:t>• Explore cough audio as a digital screening signal</a:t>
            </a:r>
          </a:p>
          <a:p>
            <a:pPr>
              <a:spcAft>
                <a:spcPts val="1100"/>
              </a:spcAft>
              <a:defRPr sz="1900">
                <a:solidFill>
                  <a:srgbClr val="233041"/>
                </a:solidFill>
              </a:defRPr>
            </a:pPr>
            <a:r>
              <a:t>• Standardize variable-length recordings</a:t>
            </a:r>
          </a:p>
          <a:p>
            <a:pPr>
              <a:spcAft>
                <a:spcPts val="1100"/>
              </a:spcAft>
              <a:defRPr sz="1900">
                <a:solidFill>
                  <a:srgbClr val="233041"/>
                </a:solidFill>
              </a:defRPr>
            </a:pPr>
            <a:r>
              <a:t>• Train and compare ML approaches</a:t>
            </a:r>
          </a:p>
          <a:p>
            <a:pPr>
              <a:spcAft>
                <a:spcPts val="1100"/>
              </a:spcAft>
              <a:defRPr sz="1900">
                <a:solidFill>
                  <a:srgbClr val="233041"/>
                </a:solidFill>
              </a:defRPr>
            </a:pPr>
            <a:r>
              <a:t>• Deploy the model through Flask</a:t>
            </a:r>
          </a:p>
          <a:p>
            <a:pPr>
              <a:spcAft>
                <a:spcPts val="1100"/>
              </a:spcAft>
              <a:defRPr sz="1900">
                <a:solidFill>
                  <a:srgbClr val="233041"/>
                </a:solidFill>
              </a:defRPr>
            </a:pPr>
            <a:r>
              <a:t>• Build an academic proof-of-concept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4297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66560" y="141732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76872" y="1581912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057400"/>
            <a:ext cx="3931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Cough recording (.wav)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697480"/>
            <a:ext cx="4297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66560" y="2697480"/>
            <a:ext cx="64008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6872" y="2862072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AI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3337560"/>
            <a:ext cx="3931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MFCC baseline + Mel-spectrogram CNN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977639"/>
            <a:ext cx="4297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66560" y="3977639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76872" y="4142231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4617719"/>
            <a:ext cx="3931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Screening-related class + model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Existing System &amp; Research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4008" cy="4023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Conventional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306324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Clinical assessment</a:t>
            </a:r>
            <a:br/>
            <a:r>
              <a:t>Laboratory testing</a:t>
            </a:r>
            <a:br/>
            <a:r>
              <a:t>Imaging when required</a:t>
            </a:r>
            <a:br/>
            <a:r>
              <a:t>Specialist interpretation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71600"/>
            <a:ext cx="34290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371600"/>
            <a:ext cx="64008" cy="4023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Audio-AI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1920240"/>
            <a:ext cx="306324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Cough recording</a:t>
            </a:r>
            <a:br/>
            <a:r>
              <a:t>Signal processing</a:t>
            </a:r>
            <a:br/>
            <a:r>
              <a:t>Feature extraction</a:t>
            </a:r>
            <a:br/>
            <a:r>
              <a:t>ML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371600"/>
            <a:ext cx="34290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371600"/>
            <a:ext cx="64008" cy="4023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536192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Project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011680"/>
            <a:ext cx="329801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Connect audio input, preprocessing, CNN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inference and a web interface in one prototype.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0562" y="2502503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rPr dirty="0"/>
              <a:t>Cough WAV</a:t>
            </a:r>
          </a:p>
        </p:txBody>
      </p:sp>
      <p:sp>
        <p:nvSpPr>
          <p:cNvPr id="8" name="Chevron 7"/>
          <p:cNvSpPr/>
          <p:nvPr/>
        </p:nvSpPr>
        <p:spPr>
          <a:xfrm>
            <a:off x="2633472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79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0652" y="2535836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rPr dirty="0"/>
              <a:t>Preprocessing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4873752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66359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9" y="2535836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rPr dirty="0"/>
              <a:t>Mel Spectrogram</a:t>
            </a:r>
          </a:p>
        </p:txBody>
      </p:sp>
      <p:sp>
        <p:nvSpPr>
          <p:cNvPr id="14" name="Chevron 13"/>
          <p:cNvSpPr/>
          <p:nvPr/>
        </p:nvSpPr>
        <p:spPr>
          <a:xfrm>
            <a:off x="7114031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6640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5783" y="2535836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rPr dirty="0"/>
              <a:t>CNN</a:t>
            </a:r>
          </a:p>
        </p:txBody>
      </p:sp>
      <p:sp>
        <p:nvSpPr>
          <p:cNvPr id="17" name="Chevron 16"/>
          <p:cNvSpPr/>
          <p:nvPr/>
        </p:nvSpPr>
        <p:spPr>
          <a:xfrm>
            <a:off x="9354311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46919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253746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rPr dirty="0"/>
              <a:t>Screening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977639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5840" y="3977639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16152" y="4142231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Audio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17719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16 kHz mono WAV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977639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3977639"/>
            <a:ext cx="64008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2" y="4142231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Feature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4617719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64-band Mel representation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977639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977639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2" y="4142231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Prediction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8068" y="4617719"/>
            <a:ext cx="2606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Healthy-associated / TB-associated pattern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10241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1371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User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380744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3041"/>
                </a:solidFill>
              </a:defRPr>
            </a:pPr>
            <a:r>
              <a:t>Browser • WAV 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77440"/>
            <a:ext cx="10241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514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23744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3041"/>
                </a:solidFill>
              </a:defRPr>
            </a:pPr>
            <a:r>
              <a:t>Flask • validation • file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40"/>
            <a:ext cx="10241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657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AI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666744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3041"/>
                </a:solidFill>
              </a:defRPr>
            </a:pPr>
            <a:r>
              <a:t>Mel preprocessing • trained CNN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10241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4800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Output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809744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3041"/>
                </a:solidFill>
              </a:defRPr>
            </a:pPr>
            <a:r>
              <a:t>Class • confidence • disclaimer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Methodology: Audio to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49047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1. Standardize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965960"/>
            <a:ext cx="237744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Mono audio</a:t>
            </a:r>
            <a:br/>
            <a:r>
              <a:t>16 kHz sample rate</a:t>
            </a:r>
            <a:br/>
            <a:r>
              <a:t>4-second target</a:t>
            </a:r>
            <a:br/>
            <a:r>
              <a:t>Pad / truncate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2588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325880"/>
            <a:ext cx="64008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149047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2. Mel spectrogram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1965960"/>
            <a:ext cx="237744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64 Mel bands</a:t>
            </a:r>
            <a:br/>
            <a:r>
              <a:t>n_fft = 512</a:t>
            </a:r>
            <a:br/>
            <a:r>
              <a:t>hop = 256</a:t>
            </a:r>
            <a:br/>
            <a:r>
              <a:t>Power →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32588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1325880"/>
            <a:ext cx="64008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8272" y="149047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3. 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1965960"/>
            <a:ext cx="237744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Mean-centering</a:t>
            </a:r>
            <a:br/>
            <a:r>
              <a:t>Standard deviation scaling</a:t>
            </a:r>
            <a:br/>
            <a:r>
              <a:t>Tensor conversion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325880"/>
            <a:ext cx="2057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9760" y="1325880"/>
            <a:ext cx="64008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0072" y="1490472"/>
            <a:ext cx="1691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4. CNN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8" y="1965960"/>
            <a:ext cx="1691640" cy="3611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1 × 64 × time</a:t>
            </a:r>
            <a:br>
              <a:rPr dirty="0"/>
            </a:br>
            <a:r>
              <a:rPr dirty="0"/>
              <a:t>Batch + channel 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Methodology: Model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3619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CNN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11680"/>
            <a:ext cx="219456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Conv: 1→16</a:t>
            </a:r>
            <a:br/>
            <a:r>
              <a:t>Conv: 16→32</a:t>
            </a:r>
            <a:br/>
            <a:r>
              <a:t>Conv: 32→64</a:t>
            </a:r>
            <a:br/>
            <a:r>
              <a:t>Adaptive pooling</a:t>
            </a:r>
            <a:br/>
            <a:r>
              <a:t>Dropout 0.4</a:t>
            </a:r>
            <a:br/>
            <a:r>
              <a:t>2-class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37160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153619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011680"/>
            <a:ext cx="219456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Adam</a:t>
            </a:r>
            <a:br/>
            <a:r>
              <a:t>Learning rate 0.001</a:t>
            </a:r>
            <a:br/>
            <a:r>
              <a:t>Cross-entropy loss</a:t>
            </a:r>
            <a:br/>
            <a:r>
              <a:t>20 epochs</a:t>
            </a:r>
            <a:br/>
            <a:r>
              <a:t>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64008" cy="3657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53619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011680"/>
            <a:ext cx="219456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Train / validation / test</a:t>
            </a:r>
            <a:br/>
            <a:r>
              <a:t>Accuracy</a:t>
            </a:r>
            <a:br/>
            <a:r>
              <a:t>Precision</a:t>
            </a:r>
            <a:br/>
            <a:r>
              <a:t>Recall</a:t>
            </a:r>
            <a:br/>
            <a:r>
              <a:t>F1-score</a:t>
            </a:r>
            <a:br/>
            <a:r>
              <a:t>Confusion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1945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64008" cy="3657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45752" y="1536192"/>
            <a:ext cx="1828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011680"/>
            <a:ext cx="182880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Random Forest</a:t>
            </a:r>
            <a:br/>
            <a:r>
              <a:t>80 MFCC features</a:t>
            </a:r>
            <a:br/>
            <a:r>
              <a:t>300 trees</a:t>
            </a:r>
            <a:br/>
            <a:r>
              <a:t>Balanced 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2461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4008" cy="3931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Software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288036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Python</a:t>
            </a:r>
            <a:br/>
            <a:r>
              <a:t>PyTorch</a:t>
            </a:r>
            <a:br/>
            <a:r>
              <a:t>Librosa</a:t>
            </a:r>
            <a:br/>
            <a:r>
              <a:t>NumPy</a:t>
            </a:r>
            <a:br/>
            <a:r>
              <a:t>Scikit-learn</a:t>
            </a:r>
            <a:br/>
            <a:r>
              <a:t>Flask</a:t>
            </a:r>
            <a:br/>
            <a:r>
              <a:t>HTML /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71600"/>
            <a:ext cx="32461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371600"/>
            <a:ext cx="64008" cy="3931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2" y="153619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Project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011680"/>
            <a:ext cx="288036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train.py</a:t>
            </a:r>
            <a:br/>
            <a:r>
              <a:t>train_cnn.py</a:t>
            </a:r>
            <a:br/>
            <a:r>
              <a:t>test_cnn.py</a:t>
            </a:r>
            <a:br/>
            <a:r>
              <a:t>app.py</a:t>
            </a:r>
            <a:br/>
            <a:r>
              <a:t>model/tb_cnn.pth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371600"/>
            <a:ext cx="324612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371600"/>
            <a:ext cx="64008" cy="3931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153619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Web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011680"/>
            <a:ext cx="2880360" cy="3154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1. Select WAV</a:t>
            </a:r>
            <a:br/>
            <a:r>
              <a:t>2. Upload</a:t>
            </a:r>
            <a:br/>
            <a:r>
              <a:t>3. Extract Mel features</a:t>
            </a:r>
            <a:br/>
            <a:r>
              <a:t>4. CNN inference</a:t>
            </a:r>
            <a:br/>
            <a:r>
              <a:t>5. Display result</a:t>
            </a:r>
            <a:br/>
            <a:r>
              <a:t>6. Remove temporary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563EB"/>
                </a:solidFill>
              </a:defRPr>
            </a:pPr>
            <a:r>
              <a:t>81.91%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C80"/>
                </a:solidFill>
              </a:defRPr>
            </a:pPr>
            <a:r>
              <a:t>CNN test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2801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D9488"/>
                </a:solidFill>
              </a:defRPr>
            </a:pPr>
            <a:r>
              <a:t>96%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574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C80"/>
                </a:solidFill>
              </a:defRPr>
            </a:pPr>
            <a:r>
              <a:t>TB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2801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EA5E9"/>
                </a:solidFill>
              </a:defRPr>
            </a:pPr>
            <a:r>
              <a:t>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C80"/>
                </a:solidFill>
              </a:defRPr>
            </a:pPr>
            <a:r>
              <a:t>TB F1-score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28016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5087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6A34A"/>
                </a:solidFill>
              </a:defRPr>
            </a:pPr>
            <a:r>
              <a:t>199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05740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C80"/>
                </a:solidFill>
              </a:defRPr>
            </a:pPr>
            <a:r>
              <a:t>Held-out samples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00400"/>
            <a:ext cx="4800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320040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07592" y="3364992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Random Forest + MFCC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840480"/>
            <a:ext cx="44348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Held-out test accuracy: 68.84%</a:t>
            </a:r>
            <a:br/>
            <a:r>
              <a:t>TB recall: 79%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00400"/>
            <a:ext cx="48006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3200400"/>
            <a:ext cx="64008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364992"/>
            <a:ext cx="4434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CNN + Mel Spectrogram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840480"/>
            <a:ext cx="44348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Held-out test accuracy: 81.91%</a:t>
            </a:r>
            <a:br/>
            <a:r>
              <a:t>TB recall: 96%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Confusion Matrix &amp;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1097280" cy="1097280"/>
          </a:xfrm>
          <a:prstGeom prst="rect">
            <a:avLst/>
          </a:prstGeom>
          <a:solidFill>
            <a:srgbClr val="E8F2FC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325C"/>
                </a:solidFill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11680" y="1417320"/>
            <a:ext cx="1097280" cy="1097280"/>
          </a:xfrm>
          <a:prstGeom prst="rect">
            <a:avLst/>
          </a:prstGeom>
          <a:solidFill>
            <a:srgbClr val="E8F2FC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691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325C"/>
                </a:solidFill>
              </a:defRPr>
            </a:pPr>
            <a:r>
              <a:t>Pred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417320"/>
            <a:ext cx="1097280" cy="1097280"/>
          </a:xfrm>
          <a:prstGeom prst="rect">
            <a:avLst/>
          </a:prstGeom>
          <a:solidFill>
            <a:srgbClr val="E8F2FC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1691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325C"/>
                </a:solidFill>
              </a:defRPr>
            </a:pPr>
            <a:r>
              <a:t>Pred TB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1097280" cy="1097280"/>
          </a:xfrm>
          <a:prstGeom prst="rect">
            <a:avLst/>
          </a:prstGeom>
          <a:solidFill>
            <a:srgbClr val="E8F2FC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325C"/>
                </a:solidFill>
              </a:defRPr>
            </a:pPr>
            <a:r>
              <a:t>Actual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514600"/>
            <a:ext cx="10972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2788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1325C"/>
                </a:solidFill>
              </a:defRPr>
            </a:pPr>
            <a:r>
              <a:t>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514600"/>
            <a:ext cx="10972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2788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1325C"/>
                </a:solidFill>
              </a:defRPr>
            </a:pPr>
            <a:r>
              <a:t>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611880"/>
            <a:ext cx="1097280" cy="1097280"/>
          </a:xfrm>
          <a:prstGeom prst="rect">
            <a:avLst/>
          </a:prstGeom>
          <a:solidFill>
            <a:srgbClr val="E8F2FC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86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1325C"/>
                </a:solidFill>
              </a:defRPr>
            </a:pPr>
            <a:r>
              <a:t>Actual TB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3611880"/>
            <a:ext cx="10972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11680" y="3886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1325C"/>
                </a:solidFill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611880"/>
            <a:ext cx="10972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08960" y="3886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11325C"/>
                </a:solidFill>
              </a:defRPr>
            </a:pPr>
            <a:r>
              <a:t>128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417320"/>
            <a:ext cx="2971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1417320"/>
            <a:ext cx="64008" cy="3566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2312" y="1581912"/>
            <a:ext cx="2606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What it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2057400"/>
            <a:ext cx="26060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128 TB samples correctly classified</a:t>
            </a:r>
            <a:br/>
            <a:r>
              <a:t>5 TB samples classified as Healthy</a:t>
            </a:r>
            <a:br/>
            <a:r>
              <a:t>31 Healthy samples classified as TB</a:t>
            </a:r>
            <a:br/>
            <a:r>
              <a:t>35 Healthy samples correctly classified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41732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18120" y="1417320"/>
            <a:ext cx="64008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28432" y="1581912"/>
            <a:ext cx="2880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Important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2" y="2057400"/>
            <a:ext cx="2937471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False positives remain substantial. High TB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 recall does not mean the system can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 diagnose TB.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8188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Non-invasive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5" y="2017382"/>
            <a:ext cx="219456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Uses cough audio as the model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64008" cy="3566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2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Low-cost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039505"/>
            <a:ext cx="235763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Browser-based workflow suitable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 for a prototype.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64008" cy="3566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Fast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033900"/>
            <a:ext cx="252421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Compact CNN can run on CPU after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17320"/>
            <a:ext cx="25603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417320"/>
            <a:ext cx="64008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15819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Deployable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791" y="2036358"/>
            <a:ext cx="234628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Flask separates web logic from AI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 inference.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Limitations &amp;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743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9047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2057936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Limited size and diversity</a:t>
            </a:r>
            <a:br>
              <a:rPr dirty="0"/>
            </a:br>
            <a:r>
              <a:rPr dirty="0"/>
              <a:t>Recording/device variation</a:t>
            </a:r>
            <a:br>
              <a:rPr dirty="0"/>
            </a:br>
            <a:r>
              <a:rPr dirty="0"/>
              <a:t>Labels may not represent all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populations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325880"/>
            <a:ext cx="2743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325880"/>
            <a:ext cx="64008" cy="4343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2192" y="149047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2" y="1965960"/>
            <a:ext cx="2563907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False positives remain</a:t>
            </a:r>
            <a:br>
              <a:rPr dirty="0"/>
            </a:br>
            <a:r>
              <a:rPr dirty="0"/>
              <a:t>Confidence ≠ disease probability</a:t>
            </a:r>
            <a:br>
              <a:rPr dirty="0"/>
            </a:br>
            <a:r>
              <a:rPr dirty="0"/>
              <a:t>Performance may change on unseen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325880"/>
            <a:ext cx="2743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1325880"/>
            <a:ext cx="64008" cy="4343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93992" y="149047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Clinical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1965960"/>
            <a:ext cx="23774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Not a diagnostic device</a:t>
            </a:r>
            <a:br/>
            <a:r>
              <a:t>Cannot confirm or rule out TB</a:t>
            </a:r>
            <a:br/>
            <a:r>
              <a:t>Clinical testing remains necessary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1325880"/>
            <a:ext cx="1965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5480" y="1325880"/>
            <a:ext cx="64008" cy="4343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65792" y="1490472"/>
            <a:ext cx="1600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Responsible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1913357"/>
            <a:ext cx="150137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Research only</a:t>
            </a:r>
            <a:br>
              <a:rPr dirty="0"/>
            </a:br>
            <a:r>
              <a:rPr dirty="0"/>
              <a:t>Human oversight</a:t>
            </a:r>
            <a:br>
              <a:rPr dirty="0"/>
            </a:br>
            <a:r>
              <a:rPr dirty="0"/>
              <a:t>Privacy-aware audio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325C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6C80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t>Larger dataset</a:t>
            </a:r>
          </a:p>
        </p:txBody>
      </p:sp>
      <p:sp>
        <p:nvSpPr>
          <p:cNvPr id="8" name="Chevron 7"/>
          <p:cNvSpPr/>
          <p:nvPr/>
        </p:nvSpPr>
        <p:spPr>
          <a:xfrm>
            <a:off x="2633472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26079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799" y="242316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t>Robust augmentation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873752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66359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9" y="242316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t>Advanced models</a:t>
            </a:r>
          </a:p>
        </p:txBody>
      </p:sp>
      <p:sp>
        <p:nvSpPr>
          <p:cNvPr id="14" name="Chevron 13"/>
          <p:cNvSpPr/>
          <p:nvPr/>
        </p:nvSpPr>
        <p:spPr>
          <a:xfrm>
            <a:off x="7114031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6640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52360" y="242316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t>External validation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9354311" y="2542032"/>
            <a:ext cx="228600" cy="310896"/>
          </a:xfrm>
          <a:prstGeom prst="chevron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46919" y="224028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2423160"/>
            <a:ext cx="1783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1325C"/>
                </a:solidFill>
              </a:defRPr>
            </a:pPr>
            <a:r>
              <a:t>Clinical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69080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406908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42336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Audio 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70916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Noise handling and device variation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4069080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80" y="4069080"/>
            <a:ext cx="64008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36592" y="42336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Model improvements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470916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t>Transfer learning, attention, transformers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069080"/>
            <a:ext cx="310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4069080"/>
            <a:ext cx="64008" cy="960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8472" y="4233672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470203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Multi-site and clinically supervised 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C80"/>
                </a:solidFill>
              </a:defRPr>
            </a:pPr>
            <a:r>
              <a:t>AI-Based TB Cough Screening • B.Tech Academic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1325C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063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64008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1993392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2468880"/>
            <a:ext cx="249350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Cough audio can be explored as an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accessible AI screening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828800"/>
            <a:ext cx="3063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53712" y="1828800"/>
            <a:ext cx="64008" cy="2468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4024" y="1993392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4" y="2468880"/>
            <a:ext cx="286398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Mel-spectrogram CNN integrated into a F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 err="1"/>
              <a:t>lask</a:t>
            </a:r>
            <a:r>
              <a:rPr dirty="0"/>
              <a:t> 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3063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3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93024" y="1828800"/>
            <a:ext cx="64008" cy="2468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03336" y="1993392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325C"/>
                </a:solidFill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468880"/>
            <a:ext cx="270131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81.91% held-out accuracy and 96% TB </a:t>
            </a:r>
            <a:endParaRPr lang="en-IN" dirty="0"/>
          </a:p>
          <a:p>
            <a:pPr>
              <a:defRPr sz="1250">
                <a:solidFill>
                  <a:srgbClr val="5A6C80"/>
                </a:solidFill>
              </a:defRPr>
            </a:pPr>
            <a:r>
              <a:rPr dirty="0"/>
              <a:t>recall on the evaluated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00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9E0B"/>
                </a:solidFill>
              </a:defRPr>
            </a:pPr>
            <a:r>
              <a:t>Research prototype • Not a medical diagnostic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2356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3041"/>
                </a:solidFill>
              </a:defRPr>
            </a:pPr>
            <a: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1603</Words>
  <Application>Microsoft Office PowerPoint</Application>
  <PresentationFormat>Widescreen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budireddy jagadeesh</cp:lastModifiedBy>
  <cp:revision>2</cp:revision>
  <dcterms:created xsi:type="dcterms:W3CDTF">2013-01-27T09:14:16Z</dcterms:created>
  <dcterms:modified xsi:type="dcterms:W3CDTF">2026-09-24T11:57:30Z</dcterms:modified>
  <cp:category/>
</cp:coreProperties>
</file>